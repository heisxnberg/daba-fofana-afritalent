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7" r:id="rId10"/>
    <p:sldId id="268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6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529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48640" y="502920"/>
            <a:ext cx="1463040" cy="347472"/>
          </a:xfrm>
          <a:prstGeom prst="roundRect">
            <a:avLst>
              <a:gd name="adj" fmla="val 21053"/>
            </a:avLst>
          </a:prstGeom>
          <a:solidFill>
            <a:schemeClr val="tx1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7756" y="439479"/>
            <a:ext cx="1584960" cy="410913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S2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0" y="962601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2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Afri</a:t>
            </a:r>
            <a:r>
              <a:rPr lang="en-US" sz="7200" b="1" dirty="0" err="1" smtClean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Talent</a:t>
            </a:r>
            <a:endParaRPr lang="en-US" sz="7200" dirty="0">
              <a:solidFill>
                <a:schemeClr val="accent2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194221" y="2038137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de mise en relation</a:t>
            </a:r>
            <a:endParaRPr lang="en-US" sz="1800" b="1" dirty="0"/>
          </a:p>
          <a:p>
            <a:pPr marL="0" indent="0" algn="l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freelances tech &amp; entreprises</a:t>
            </a:r>
            <a:endParaRPr lang="en-US" sz="1800" b="1" dirty="0"/>
          </a:p>
        </p:txBody>
      </p:sp>
      <p:sp>
        <p:nvSpPr>
          <p:cNvPr id="9" name="Text 7"/>
          <p:cNvSpPr/>
          <p:nvPr/>
        </p:nvSpPr>
        <p:spPr>
          <a:xfrm>
            <a:off x="477756" y="368340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Daba Fofana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7756" y="3970781"/>
            <a:ext cx="1939379" cy="4594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Groupe ISI  ·  Semestre 2  ·  2026</a:t>
            </a:r>
            <a:endParaRPr lang="en-US" sz="1200" b="1" dirty="0"/>
          </a:p>
        </p:txBody>
      </p:sp>
      <p:sp>
        <p:nvSpPr>
          <p:cNvPr id="12" name="Text 10"/>
          <p:cNvSpPr/>
          <p:nvPr/>
        </p:nvSpPr>
        <p:spPr>
          <a:xfrm>
            <a:off x="2967228" y="3488436"/>
            <a:ext cx="1508760" cy="32004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2967228" y="3930609"/>
            <a:ext cx="1508760" cy="32004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4739994" y="3476031"/>
            <a:ext cx="1508760" cy="32004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4772246" y="3921749"/>
            <a:ext cx="1508760" cy="32004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2967228" y="4421088"/>
            <a:ext cx="1508760" cy="32004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9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5943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Sommaire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14400" y="1417320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smtClean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300" dirty="0" err="1" smtClean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r>
              <a:rPr lang="en-US" sz="1300" dirty="0" smtClean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Objectif du </a:t>
            </a:r>
            <a:r>
              <a:rPr lang="en-US" sz="1300" dirty="0" err="1" smtClean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0756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2039112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smtClean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300" dirty="0" err="1" smtClean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</a:t>
            </a:r>
            <a:r>
              <a:rPr lang="en-US" sz="1300" dirty="0" smtClean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design — Palette &amp; Typographie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2660904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smtClean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Architecture 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Pages du site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3192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4400" y="3282696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smtClean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Points 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— JS, Bootstrap, CSS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3904488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smtClean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GitHub 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Commits &amp; Workflow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03520" y="1417320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smtClean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</a:t>
            </a:r>
            <a:r>
              <a:rPr lang="en-US" sz="1300" dirty="0" err="1" smtClean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</a:t>
            </a:r>
            <a:r>
              <a:rPr lang="en-US" sz="1300" dirty="0" smtClean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Solutions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03520" y="2039112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smtClean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</a:t>
            </a:r>
            <a:r>
              <a:rPr lang="en-US" sz="1300" dirty="0" err="1" smtClean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</a:t>
            </a:r>
            <a:r>
              <a:rPr lang="en-US" sz="1300" dirty="0" smtClean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utilisées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03520" y="2660904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smtClean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</a:t>
            </a:r>
            <a:r>
              <a:rPr lang="en-US" sz="1300" dirty="0" err="1" smtClean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r>
              <a:rPr lang="en-US" sz="1300" dirty="0" smtClean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03520" y="3282696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smtClean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Conclusion 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Perspectives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69905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&amp; Objectif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35742" y="12801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0" y="1505818"/>
            <a:ext cx="40233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marché du freelance tech en Afrique connaît une croissance explosive. Développeurs, designers et créateurs de contenu cherchent une plateforme fiable pour proposer leurs services et trouver des missions.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0" y="236475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pédagogique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0" y="2606040"/>
            <a:ext cx="40233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Concevoir et développer le site vitrine complet d'AfriTalent — 5 pages HTML liées, design Bento Grid 2026, responsive, accessibilité, et interactivité JavaScript vanilla.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CHOIX DE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39" y="548640"/>
            <a:ext cx="43919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Palette &amp; Typographie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 de couleurs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502" y="1732788"/>
            <a:ext cx="2368368" cy="868680"/>
          </a:xfrm>
          <a:prstGeom prst="roundRect">
            <a:avLst>
              <a:gd name="adj" fmla="val 10526"/>
            </a:avLst>
          </a:prstGeom>
          <a:solidFill>
            <a:srgbClr val="F9731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60604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Primaire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6775" y="281635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CTA, accents, boutons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434395" y="1741932"/>
            <a:ext cx="1364865" cy="86868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67128" y="260604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Secondaire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44268" y="280263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Navbar, textes foncés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863411" y="1734773"/>
            <a:ext cx="982909" cy="86868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31336" y="260604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99261" y="280263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Arrière-plan général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40594" y="1734773"/>
            <a:ext cx="1910744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95544" y="260604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0" y="280667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Cartes, sections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945612" y="1732788"/>
            <a:ext cx="1664208" cy="868680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59752" y="260604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154577" y="2807739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Corps de texte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48640" y="35204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Typographie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39319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Syne — Titres expressifs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40080" y="42519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· H2 · H3 — Google Fonts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Expressive, moderne, impactante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46320" y="39319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 — Corps de texte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846320" y="42519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Paragraphes · Labels · Navigation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Lisible, neutre, professionnelle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8775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DU PROJET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du site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 smtClean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 smtClean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Daba</a:t>
            </a:r>
            <a:r>
              <a:rPr lang="en-US" sz="1100" b="1" dirty="0" smtClean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-Fofana-</a:t>
            </a:r>
            <a:r>
              <a:rPr lang="en-US" sz="1100" b="1" dirty="0" err="1" smtClean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AfriTalent</a:t>
            </a:r>
            <a:r>
              <a:rPr lang="en-US" sz="1100" b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719072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b="1" dirty="0" smtClean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 </a:t>
            </a:r>
            <a:r>
              <a:rPr lang="en-US" sz="1000" b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b="1" dirty="0" smtClean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─- </a:t>
            </a:r>
            <a:r>
              <a:rPr lang="en-US" sz="1000" b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freelances.html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234114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b="1" dirty="0" smtClean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 </a:t>
            </a:r>
            <a:r>
              <a:rPr lang="en-US" sz="1000" b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tarifs.html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459736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b="1" dirty="0" smtClean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 </a:t>
            </a:r>
            <a:r>
              <a:rPr lang="en-US" sz="1000" b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about.html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706624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b="1" dirty="0" smtClean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 </a:t>
            </a:r>
            <a:r>
              <a:rPr lang="en-US" sz="1000" b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contact.html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953512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 smtClean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 </a:t>
            </a:r>
            <a:r>
              <a:rPr lang="en-US" sz="100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css/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200400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 smtClean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── </a:t>
            </a:r>
            <a:r>
              <a:rPr lang="en-US" sz="100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447288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 smtClean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 </a:t>
            </a:r>
            <a:r>
              <a:rPr lang="en-US" sz="100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js/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694176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 smtClean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── </a:t>
            </a:r>
            <a:r>
              <a:rPr lang="en-US" sz="100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main.js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3941064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 smtClean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 </a:t>
            </a:r>
            <a:r>
              <a:rPr lang="en-US" sz="100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images/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4187952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 smtClean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 </a:t>
            </a:r>
            <a:r>
              <a:rPr lang="en-US" sz="100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  (PowerPoint)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4434840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 smtClean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 </a:t>
            </a:r>
            <a:r>
              <a:rPr lang="en-US" sz="100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91254" y="124358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Les 5 pages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09160" y="1709928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166360" y="1719072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index.html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66360" y="193852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Hero, Bento, Catégories, Témoignages, CTA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166360" y="237744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freelances.html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66360" y="259689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Catalogue filtrable, 9 profils, JS filter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166360" y="303580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tarifs.html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66360" y="325526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3 plans, FAQ accordion Bootstrap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166360" y="36941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about.html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166360" y="391363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Histoire, Équipe, Valeurs, Chiffres clés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166360" y="435254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contact.html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166360" y="45720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validé JS, Google Maps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POINTS TECHNIQUES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80045" y="909828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 Vanilla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73361" y="1586307"/>
            <a:ext cx="25237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Toggle persisté entre les pages via localStorage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3361" y="2189988"/>
            <a:ext cx="25237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Chiffres s'incrémentent de 0 à la cible au scroll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3361" y="2807208"/>
            <a:ext cx="25237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Filtrage freelances par catégorie sans rechargement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66928" y="321868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73361" y="3319272"/>
            <a:ext cx="25237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Regex email + longueur min 20 chars + retour visuel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547872" y="3630168"/>
            <a:ext cx="241401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73361" y="3843599"/>
            <a:ext cx="25237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Navbar dynamique + bouton back-to-top smooth scroll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73361" y="4450222"/>
            <a:ext cx="25237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Sections apparaissent en fondu via IntersectionObserver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48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Difficultés &amp; Solutions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78992" y="1115568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HTML incorrecte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78992" y="1636776"/>
            <a:ext cx="7498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&lt;header&gt; et la navbar étaient placés en dehors du &lt;body&gt;, ce qui rendait le contenu de la page invisible dans le </a:t>
            </a:r>
            <a:r>
              <a:rPr lang="en-US" sz="1400" dirty="0" err="1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navigateur</a:t>
            </a:r>
            <a:r>
              <a:rPr lang="en-US" sz="1400" dirty="0" smtClean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(</a:t>
            </a:r>
            <a:r>
              <a:rPr lang="en-US" sz="1400" dirty="0" err="1" smtClean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j’ai</a:t>
            </a:r>
            <a:r>
              <a:rPr lang="en-US" sz="1400" dirty="0" smtClean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 </a:t>
            </a:r>
            <a:r>
              <a:rPr lang="en-US" sz="1400" dirty="0" err="1" smtClean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progressement</a:t>
            </a:r>
            <a:r>
              <a:rPr lang="en-US" sz="1400" dirty="0" smtClean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les modifier </a:t>
            </a:r>
            <a:r>
              <a:rPr lang="en-US" sz="1400" dirty="0" err="1" smtClean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400" dirty="0" smtClean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 smtClean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</a:t>
            </a:r>
            <a:r>
              <a:rPr lang="en-US" sz="1400" dirty="0" smtClean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 smtClean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d’autres</a:t>
            </a:r>
            <a:r>
              <a:rPr lang="en-US" sz="1400" dirty="0" smtClean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commits </a:t>
            </a:r>
            <a:r>
              <a:rPr lang="en-US" sz="1400" dirty="0" err="1" smtClean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</a:t>
            </a:r>
            <a:r>
              <a:rPr lang="en-US" sz="1400" dirty="0" smtClean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qui a </a:t>
            </a:r>
            <a:r>
              <a:rPr lang="en-US" sz="1400" dirty="0" err="1" smtClean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bacle</a:t>
            </a:r>
            <a:r>
              <a:rPr lang="en-US" sz="1400" dirty="0" smtClean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mon travail)</a:t>
            </a:r>
            <a:endParaRPr lang="en-US" sz="1400" dirty="0">
              <a:solidFill>
                <a:srgbClr val="C0000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1078992" y="2119423"/>
            <a:ext cx="7498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smtClean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Réorganisation complète de la structure HTML5 sémantique avec &lt;header&gt; à l'intérieur du &lt;body&gt;, 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fermeture</a:t>
            </a:r>
            <a:r>
              <a:rPr lang="en-US" sz="14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correcte de toutes les </a:t>
            </a:r>
            <a:r>
              <a:rPr lang="en-US" sz="1400" dirty="0" err="1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balises</a:t>
            </a:r>
            <a:r>
              <a:rPr lang="en-US" sz="1400" dirty="0" smtClean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.(</a:t>
            </a:r>
            <a:r>
              <a:rPr lang="en-US" sz="1400" dirty="0" err="1" smtClean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</a:t>
            </a:r>
            <a:r>
              <a:rPr lang="en-US" sz="1400" dirty="0" smtClean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 mal </a:t>
            </a:r>
            <a:r>
              <a:rPr lang="en-US" sz="1400" dirty="0" err="1" smtClean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reste</a:t>
            </a:r>
            <a:r>
              <a:rPr lang="en-US" sz="1400" dirty="0" smtClean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 smtClean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</a:t>
            </a:r>
            <a:r>
              <a:rPr lang="en-US" sz="1400" dirty="0" smtClean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mm </a:t>
            </a:r>
            <a:r>
              <a:rPr lang="en-US" sz="1400" dirty="0" err="1" smtClean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</a:t>
            </a:r>
            <a:r>
              <a:rPr lang="en-US" sz="1400" dirty="0" smtClean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fait)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78992" y="260604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invisibles (fade-in)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78992" y="2898648"/>
            <a:ext cx="7498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sections avec .fade-in-section avaient opacity: 0 par défaut. Sans IntersectionObserver fonctionnel, la page apparaissait entièrement blanche.</a:t>
            </a:r>
            <a:endParaRPr lang="en-US" sz="1400" dirty="0">
              <a:solidFill>
                <a:srgbClr val="C00000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78992" y="3246120"/>
            <a:ext cx="7498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Débogage via la console (F12), correction du chargement de main.js, vérification que l'id #main-navbar correspondait bien à celui ciblé par le JS.</a:t>
            </a:r>
            <a:endParaRPr lang="en-US" sz="14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1078992" y="3867912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 Bootstrap : id mismatch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78992" y="4160520"/>
            <a:ext cx="7498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data-bs-target pointait vers #navbarSupportedContent mais l'id réel du collapse était #</a:t>
            </a:r>
            <a:r>
              <a:rPr lang="en-US" sz="1400" dirty="0" err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navMenu</a:t>
            </a:r>
            <a:r>
              <a:rPr lang="en-US" sz="1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smtClean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menu hamburger ne s'ouvrait pas sur mobile.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78992" y="4507992"/>
            <a:ext cx="7498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smtClean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4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Alignement de tous les id : data-bs-target, aria-controls et id du div.collapse pointent tous vers #navMenu.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kern="0" spc="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Ressources utilisées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8992" y="138988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MDN Web Docs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1627632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developer.mozilla.org/fr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78992" y="1801368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 HTML, CSS, JavaScript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68112" y="138988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 Docs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68112" y="1627632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getbootstrap.com/docs/5.3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68112" y="1801368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Composants, grille, utilitaires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78992" y="226771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Google Fonts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78992" y="2452577"/>
            <a:ext cx="3422124" cy="2357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fonts.google.com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78992" y="2679192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Polices Syne &amp; Inter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68112" y="226771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Bootstrap Icons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68112" y="2505456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icons.getbootstrap.com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68112" y="2679192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Bibliothèque d'icônes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78992" y="314553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CSS-Tricks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78992" y="338328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css-tricks.com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78992" y="3557016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Guides Flexbox, Grid, CSS avancé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468112" y="314553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W3C Validator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468112" y="338328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validator.w3.org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468112" y="3557016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HTML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1078992" y="402336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Unsplash / Pexels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1078992" y="4261104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unsplash.com / pexels.com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1078992" y="443484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Images libres de droits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5468112" y="402336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Coolors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5468112" y="4261104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coolors.co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5468112" y="443484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Générateur de palette de couleurs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48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Perspectives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73804" y="1242167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Ce que j'ai acquis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71907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86968" y="166420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Structure HTML5 sémantique rigoureuse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86968" y="1963125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Maîtrise de CSS Grid &amp; Bento Box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86968" y="2203704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Animations JS avec IntersectionObserver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86968" y="242316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Git avec 10 commits structurés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86968" y="265176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GitHub Pages</a:t>
            </a:r>
            <a:endParaRPr lang="en-US" sz="1400" dirty="0"/>
          </a:p>
        </p:txBody>
      </p:sp>
      <p:sp>
        <p:nvSpPr>
          <p:cNvPr id="39" name="ZoneTexte 38"/>
          <p:cNvSpPr txBox="1"/>
          <p:nvPr/>
        </p:nvSpPr>
        <p:spPr>
          <a:xfrm>
            <a:off x="623777" y="3035808"/>
            <a:ext cx="30338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 smtClean="0"/>
              <a:t>Ce que j’ai le mieux assimile </a:t>
            </a:r>
            <a:endParaRPr lang="fr-FR" sz="1600" b="1" dirty="0"/>
          </a:p>
        </p:txBody>
      </p:sp>
      <p:sp>
        <p:nvSpPr>
          <p:cNvPr id="40" name="ZoneTexte 39"/>
          <p:cNvSpPr txBox="1"/>
          <p:nvPr/>
        </p:nvSpPr>
        <p:spPr>
          <a:xfrm>
            <a:off x="758952" y="3502152"/>
            <a:ext cx="299079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Une on ne peut plus mieux maitrise de </a:t>
            </a:r>
            <a:r>
              <a:rPr lang="fr-FR" sz="1400" dirty="0" err="1" smtClean="0"/>
              <a:t>boostrap</a:t>
            </a:r>
            <a:r>
              <a:rPr lang="fr-FR" sz="1400" dirty="0" smtClean="0"/>
              <a:t>, l’html et un peu de </a:t>
            </a:r>
            <a:r>
              <a:rPr lang="fr-FR" sz="1400" dirty="0" err="1" smtClean="0"/>
              <a:t>css</a:t>
            </a:r>
            <a:r>
              <a:rPr lang="fr-FR" sz="1400" dirty="0" smtClean="0"/>
              <a:t>, le </a:t>
            </a:r>
            <a:r>
              <a:rPr lang="fr-FR" sz="1400" dirty="0" err="1" smtClean="0"/>
              <a:t>js</a:t>
            </a:r>
            <a:r>
              <a:rPr lang="fr-FR" sz="1400" dirty="0" smtClean="0"/>
              <a:t> c’est pas encore trop ca </a:t>
            </a:r>
            <a:endParaRPr lang="fr-FR" sz="1400" dirty="0"/>
          </a:p>
        </p:txBody>
      </p:sp>
      <p:sp>
        <p:nvSpPr>
          <p:cNvPr id="41" name="ZoneTexte 40"/>
          <p:cNvSpPr txBox="1"/>
          <p:nvPr/>
        </p:nvSpPr>
        <p:spPr>
          <a:xfrm>
            <a:off x="594360" y="4198570"/>
            <a:ext cx="37673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Les </a:t>
            </a:r>
            <a:r>
              <a:rPr lang="fr-FR" sz="1400" dirty="0" err="1" smtClean="0"/>
              <a:t>eploiements</a:t>
            </a:r>
            <a:r>
              <a:rPr lang="fr-FR" sz="1400" dirty="0" smtClean="0"/>
              <a:t> </a:t>
            </a:r>
            <a:r>
              <a:rPr lang="fr-FR" sz="1400" dirty="0" err="1" smtClean="0"/>
              <a:t>github</a:t>
            </a:r>
            <a:r>
              <a:rPr lang="fr-FR" sz="1400" dirty="0" smtClean="0"/>
              <a:t> sont </a:t>
            </a:r>
            <a:r>
              <a:rPr lang="fr-FR" sz="1400" dirty="0" err="1" smtClean="0"/>
              <a:t>tres</a:t>
            </a:r>
            <a:r>
              <a:rPr lang="fr-FR" sz="1400" dirty="0" smtClean="0"/>
              <a:t> </a:t>
            </a:r>
            <a:r>
              <a:rPr lang="fr-FR" sz="1400" dirty="0" err="1" smtClean="0"/>
              <a:t>tres</a:t>
            </a:r>
            <a:r>
              <a:rPr lang="fr-FR" sz="1400" dirty="0" smtClean="0"/>
              <a:t> bien saisis (du moins mieux que les autres)</a:t>
            </a:r>
            <a:endParaRPr lang="fr-FR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516911" y="2409678"/>
            <a:ext cx="5635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latin typeface="Arial Black" panose="020B0A04020102020204" pitchFamily="34" charset="0"/>
              </a:rPr>
              <a:t>Merci de votre Attention </a:t>
            </a:r>
            <a:r>
              <a:rPr lang="fr-FR" b="1" dirty="0" err="1" smtClean="0">
                <a:latin typeface="Arial Black" panose="020B0A04020102020204" pitchFamily="34" charset="0"/>
              </a:rPr>
              <a:t>hehehe</a:t>
            </a:r>
            <a:r>
              <a:rPr lang="fr-FR" b="1" dirty="0" smtClean="0">
                <a:latin typeface="Arial Black" panose="020B0A04020102020204" pitchFamily="34" charset="0"/>
              </a:rPr>
              <a:t> smiley ;)))) </a:t>
            </a:r>
            <a:endParaRPr lang="fr-FR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1467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714</Words>
  <Application>Microsoft Office PowerPoint</Application>
  <PresentationFormat>Affichage à l'écran (16:9)</PresentationFormat>
  <Paragraphs>136</Paragraphs>
  <Slides>10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6" baseType="lpstr">
      <vt:lpstr>Arial</vt:lpstr>
      <vt:lpstr>Arial Black</vt:lpstr>
      <vt:lpstr>Calibri</vt:lpstr>
      <vt:lpstr>Cambria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Daba Fofana</cp:lastModifiedBy>
  <cp:revision>8</cp:revision>
  <dcterms:created xsi:type="dcterms:W3CDTF">2026-07-03T08:47:42Z</dcterms:created>
  <dcterms:modified xsi:type="dcterms:W3CDTF">2026-07-03T11:33:48Z</dcterms:modified>
</cp:coreProperties>
</file>